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502920"/>
            <a:ext cx="1051560" cy="1051560"/>
          </a:xfrm>
          <a:prstGeom prst="ellipse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52760" y="1143000"/>
            <a:ext cx="502920" cy="502920"/>
          </a:xfrm>
          <a:prstGeom prst="ellipse">
            <a:avLst/>
          </a:prstGeom>
          <a:solidFill>
            <a:srgbClr val="2B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72600" y="1234440"/>
            <a:ext cx="320040" cy="320040"/>
          </a:xfrm>
          <a:prstGeom prst="ellipse">
            <a:avLst/>
          </a:prstGeom>
          <a:solidFill>
            <a:srgbClr val="DE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9601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 Display"/>
              </a:rPr>
              <a:t>Pseudocódigo para la
Evaluación de Actividades Docentes</a:t>
            </a:r>
          </a:p>
          <a:p>
            <a:pPr>
              <a:spcBef>
                <a:spcPts val="1800"/>
              </a:spcBef>
            </a:pPr>
            <a:r>
              <a:rPr sz="1800">
                <a:solidFill>
                  <a:srgbClr val="C3D7E8"/>
                </a:solidFill>
                <a:latin typeface="Aptos"/>
              </a:rPr>
              <a:t>Propuesta con apoyo de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6400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Melanyn Triguero</a:t>
            </a:r>
          </a:p>
          <a:p>
            <a:r>
              <a:rPr sz="1200">
                <a:solidFill>
                  <a:srgbClr val="B4C3D2"/>
                </a:solidFill>
              </a:rPr>
              <a:t>Defensa del trabajo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40"/>
                </a:solidFill>
                <a:latin typeface="Aptos Display"/>
              </a:rPr>
              <a:t>1. ¿Qué problema resuelve el pseudocódigo?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0"/>
                </a:solidFill>
                <a:latin typeface="Aptos"/>
              </a:rPr>
              <a:t>Automatizar una primera evaluación de una actividad elaborada por un docente.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64592"/>
          <a:lstStyle/>
          <a:p>
            <a:pPr algn="ctr"/>
            <a:r>
              <a:rPr sz="1700" b="1">
                <a:solidFill>
                  <a:srgbClr val="162640"/>
                </a:solidFill>
                <a:latin typeface="Aptos"/>
              </a:rPr>
              <a:t>Objetivo general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Recibir los datos del docente y la actividad propuesta.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Analizar la actividad mediante criterios definidos.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Asignar un nivel de desempeño: básico, intermedio, avanzado o experto.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Generar un informe personalizado con calificación y consejos.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Permitir modificar la actividad y volver a evaluarla si el docente lo desea.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73152" cy="4389120"/>
          </a:xfrm>
          <a:prstGeom prst="rect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3492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64592"/>
          <a:lstStyle/>
          <a:p>
            <a:pPr algn="ctr"/>
            <a:r>
              <a:rPr sz="1700" b="1">
                <a:solidFill>
                  <a:srgbClr val="162640"/>
                </a:solidFill>
                <a:latin typeface="Aptos"/>
              </a:rPr>
              <a:t>¿Por qué usar este flujo?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Evita que la evaluación quede solo en una opinión general.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Organiza el proceso en pasos claros y repetibles.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Entrega retroalimentación que puede convertirse en mejoras concretas.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Incluye una decisión final: aceptar sugerencias o terminar.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73152" cy="4389120"/>
          </a:xfrm>
          <a:prstGeom prst="rect">
            <a:avLst/>
          </a:prstGeom>
          <a:solidFill>
            <a:srgbClr val="2B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40"/>
                </a:solidFill>
                <a:latin typeface="Aptos Display"/>
              </a:rPr>
              <a:t>2. Flujo general del algoritmo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0"/>
                </a:solidFill>
                <a:latin typeface="Aptos"/>
              </a:rPr>
              <a:t>El proceso va desde la identificación del docente hasta la actividad finalizada.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57276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62640"/>
                </a:solidFill>
              </a:rPr>
              <a:t>Datos del docente</a:t>
            </a:r>
          </a:p>
          <a:p>
            <a:pPr algn="ctr">
              <a:spcBef>
                <a:spcPts val="1000"/>
              </a:spcBef>
            </a:pPr>
            <a:r>
              <a:rPr sz="1150">
                <a:solidFill>
                  <a:srgbClr val="28303A"/>
                </a:solidFill>
              </a:rPr>
              <a:t>Nombre y disciplina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1554480"/>
            <a:ext cx="566928" cy="566928"/>
          </a:xfrm>
          <a:prstGeom prst="ellipse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58568" y="2971800"/>
            <a:ext cx="274320" cy="0"/>
          </a:xfrm>
          <a:prstGeom prst="line">
            <a:avLst/>
          </a:prstGeom>
          <a:ln w="25400">
            <a:solidFill>
              <a:srgbClr val="23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32888" y="1874519"/>
            <a:ext cx="157276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62640"/>
                </a:solidFill>
              </a:rPr>
              <a:t>Actividad</a:t>
            </a:r>
          </a:p>
          <a:p>
            <a:pPr algn="ctr">
              <a:spcBef>
                <a:spcPts val="1000"/>
              </a:spcBef>
            </a:pPr>
            <a:r>
              <a:rPr sz="1150">
                <a:solidFill>
                  <a:srgbClr val="28303A"/>
                </a:solidFill>
              </a:rPr>
              <a:t>Descripción del taller/deber</a:t>
            </a:r>
          </a:p>
        </p:txBody>
      </p:sp>
      <p:sp>
        <p:nvSpPr>
          <p:cNvPr id="10" name="Oval 9"/>
          <p:cNvSpPr/>
          <p:nvPr/>
        </p:nvSpPr>
        <p:spPr>
          <a:xfrm>
            <a:off x="3035808" y="1554480"/>
            <a:ext cx="566928" cy="566928"/>
          </a:xfrm>
          <a:prstGeom prst="ellipse">
            <a:avLst/>
          </a:prstGeom>
          <a:solidFill>
            <a:srgbClr val="2B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05656" y="2971800"/>
            <a:ext cx="274320" cy="0"/>
          </a:xfrm>
          <a:prstGeom prst="line">
            <a:avLst/>
          </a:prstGeom>
          <a:ln w="25400">
            <a:solidFill>
              <a:srgbClr val="23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79976" y="1874519"/>
            <a:ext cx="157276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62640"/>
                </a:solidFill>
              </a:rPr>
              <a:t>Análisis IA</a:t>
            </a:r>
          </a:p>
          <a:p>
            <a:pPr algn="ctr">
              <a:spcBef>
                <a:spcPts val="1000"/>
              </a:spcBef>
            </a:pPr>
            <a:r>
              <a:rPr sz="1150">
                <a:solidFill>
                  <a:srgbClr val="28303A"/>
                </a:solidFill>
              </a:rPr>
              <a:t>La IA procesa y evalúa</a:t>
            </a:r>
          </a:p>
        </p:txBody>
      </p:sp>
      <p:sp>
        <p:nvSpPr>
          <p:cNvPr id="13" name="Oval 12"/>
          <p:cNvSpPr/>
          <p:nvPr/>
        </p:nvSpPr>
        <p:spPr>
          <a:xfrm>
            <a:off x="4882896" y="1554480"/>
            <a:ext cx="566928" cy="566928"/>
          </a:xfrm>
          <a:prstGeom prst="ellipse">
            <a:avLst/>
          </a:prstGeom>
          <a:solidFill>
            <a:srgbClr val="2B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52744" y="2971800"/>
            <a:ext cx="274320" cy="0"/>
          </a:xfrm>
          <a:prstGeom prst="line">
            <a:avLst/>
          </a:prstGeom>
          <a:ln w="25400">
            <a:solidFill>
              <a:srgbClr val="23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7064" y="1874519"/>
            <a:ext cx="157276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62640"/>
                </a:solidFill>
              </a:rPr>
              <a:t>Resultados</a:t>
            </a:r>
          </a:p>
          <a:p>
            <a:pPr algn="ctr">
              <a:spcBef>
                <a:spcPts val="1000"/>
              </a:spcBef>
            </a:pPr>
            <a:r>
              <a:rPr sz="1150">
                <a:solidFill>
                  <a:srgbClr val="28303A"/>
                </a:solidFill>
              </a:rPr>
              <a:t>Criterios + nivel</a:t>
            </a:r>
          </a:p>
        </p:txBody>
      </p:sp>
      <p:sp>
        <p:nvSpPr>
          <p:cNvPr id="16" name="Oval 15"/>
          <p:cNvSpPr/>
          <p:nvPr/>
        </p:nvSpPr>
        <p:spPr>
          <a:xfrm>
            <a:off x="6729984" y="1554480"/>
            <a:ext cx="566928" cy="566928"/>
          </a:xfrm>
          <a:prstGeom prst="ellipse">
            <a:avLst/>
          </a:prstGeom>
          <a:solidFill>
            <a:srgbClr val="2B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99832" y="2971800"/>
            <a:ext cx="274320" cy="0"/>
          </a:xfrm>
          <a:prstGeom prst="line">
            <a:avLst/>
          </a:prstGeom>
          <a:ln w="25400">
            <a:solidFill>
              <a:srgbClr val="23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74152" y="1874519"/>
            <a:ext cx="157276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62640"/>
                </a:solidFill>
              </a:rPr>
              <a:t>Informe</a:t>
            </a:r>
          </a:p>
          <a:p>
            <a:pPr algn="ctr">
              <a:spcBef>
                <a:spcPts val="1000"/>
              </a:spcBef>
            </a:pPr>
            <a:r>
              <a:rPr sz="1150">
                <a:solidFill>
                  <a:srgbClr val="28303A"/>
                </a:solidFill>
              </a:rPr>
              <a:t>Calificación y consejos</a:t>
            </a:r>
          </a:p>
        </p:txBody>
      </p:sp>
      <p:sp>
        <p:nvSpPr>
          <p:cNvPr id="19" name="Oval 18"/>
          <p:cNvSpPr/>
          <p:nvPr/>
        </p:nvSpPr>
        <p:spPr>
          <a:xfrm>
            <a:off x="8577072" y="1554480"/>
            <a:ext cx="566928" cy="566928"/>
          </a:xfrm>
          <a:prstGeom prst="ellipse">
            <a:avLst/>
          </a:prstGeom>
          <a:solidFill>
            <a:srgbClr val="2B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46920" y="2971800"/>
            <a:ext cx="274320" cy="0"/>
          </a:xfrm>
          <a:prstGeom prst="line">
            <a:avLst/>
          </a:prstGeom>
          <a:ln w="25400">
            <a:solidFill>
              <a:srgbClr val="23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921240" y="1874519"/>
            <a:ext cx="157276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62640"/>
                </a:solidFill>
              </a:rPr>
              <a:t>Decisión</a:t>
            </a:r>
          </a:p>
          <a:p>
            <a:pPr algn="ctr">
              <a:spcBef>
                <a:spcPts val="1000"/>
              </a:spcBef>
            </a:pPr>
            <a:r>
              <a:rPr sz="1150">
                <a:solidFill>
                  <a:srgbClr val="28303A"/>
                </a:solidFill>
              </a:rPr>
              <a:t>Modificar o finalizar</a:t>
            </a:r>
          </a:p>
        </p:txBody>
      </p:sp>
      <p:sp>
        <p:nvSpPr>
          <p:cNvPr id="22" name="Oval 21"/>
          <p:cNvSpPr/>
          <p:nvPr/>
        </p:nvSpPr>
        <p:spPr>
          <a:xfrm>
            <a:off x="10424160" y="1554480"/>
            <a:ext cx="566928" cy="566928"/>
          </a:xfrm>
          <a:prstGeom prst="ellipse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40"/>
                </a:solidFill>
                <a:latin typeface="Aptos Display"/>
              </a:rPr>
              <a:t>3. Entrada y evaluación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0"/>
                </a:solidFill>
                <a:latin typeface="Aptos"/>
              </a:rPr>
              <a:t>Estos son los datos que alimentan el análisis y los criterios que producen el resultado.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64592"/>
          <a:lstStyle/>
          <a:p>
            <a:pPr algn="ctr"/>
            <a:r>
              <a:rPr sz="1700" b="1">
                <a:solidFill>
                  <a:srgbClr val="162640"/>
                </a:solidFill>
                <a:latin typeface="Aptos"/>
              </a:rPr>
              <a:t>Entradas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Nombre del docente.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Disciplina o área.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Descripción del taller o deber.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La actividad se convierte en la información que analizará la 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4526280"/>
          </a:xfrm>
          <a:prstGeom prst="rect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49808" tIns="182880"/>
          <a:lstStyle/>
          <a:p>
            <a:pPr algn="ctr"/>
            <a:r>
              <a:rPr sz="1600" b="1">
                <a:solidFill>
                  <a:srgbClr val="162640"/>
                </a:solidFill>
              </a:rPr>
              <a:t>Completitud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8303A"/>
                </a:solidFill>
              </a:rPr>
              <a:t>¿La actividad contiene los elementos necesarios?</a:t>
            </a:r>
          </a:p>
        </p:txBody>
      </p:sp>
      <p:sp>
        <p:nvSpPr>
          <p:cNvPr id="9" name="Oval 8"/>
          <p:cNvSpPr/>
          <p:nvPr/>
        </p:nvSpPr>
        <p:spPr>
          <a:xfrm>
            <a:off x="6473952" y="1719072"/>
            <a:ext cx="384048" cy="384048"/>
          </a:xfrm>
          <a:prstGeom prst="ellipse">
            <a:avLst/>
          </a:prstGeom>
          <a:solidFill>
            <a:srgbClr val="2B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2898648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49808" tIns="182880"/>
          <a:lstStyle/>
          <a:p>
            <a:pPr algn="ctr"/>
            <a:r>
              <a:rPr sz="1600" b="1">
                <a:solidFill>
                  <a:srgbClr val="162640"/>
                </a:solidFill>
              </a:rPr>
              <a:t>Eficiencia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8303A"/>
                </a:solidFill>
              </a:rPr>
              <a:t>¿La propuesta es clara y viable para alcanzar el objetivo?</a:t>
            </a:r>
          </a:p>
        </p:txBody>
      </p:sp>
      <p:sp>
        <p:nvSpPr>
          <p:cNvPr id="11" name="Oval 10"/>
          <p:cNvSpPr/>
          <p:nvPr/>
        </p:nvSpPr>
        <p:spPr>
          <a:xfrm>
            <a:off x="6473952" y="3200400"/>
            <a:ext cx="384048" cy="384048"/>
          </a:xfrm>
          <a:prstGeom prst="ellipse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4379976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49808" tIns="182880"/>
          <a:lstStyle/>
          <a:p>
            <a:pPr algn="ctr"/>
            <a:r>
              <a:rPr sz="1600" b="1">
                <a:solidFill>
                  <a:srgbClr val="162640"/>
                </a:solidFill>
              </a:rPr>
              <a:t>Competencias digitales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8303A"/>
                </a:solidFill>
              </a:rPr>
              <a:t>¿Integra adecuadamente herramientas o habilidades digitales?</a:t>
            </a:r>
          </a:p>
        </p:txBody>
      </p:sp>
      <p:sp>
        <p:nvSpPr>
          <p:cNvPr id="13" name="Oval 12"/>
          <p:cNvSpPr/>
          <p:nvPr/>
        </p:nvSpPr>
        <p:spPr>
          <a:xfrm>
            <a:off x="6473952" y="4681728"/>
            <a:ext cx="384048" cy="384048"/>
          </a:xfrm>
          <a:prstGeom prst="ellipse">
            <a:avLst/>
          </a:prstGeom>
          <a:solidFill>
            <a:srgbClr val="DE8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2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40"/>
                </a:solidFill>
                <a:latin typeface="Aptos Display"/>
              </a:rPr>
              <a:t>4. Pseudocódigo desarrollado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0"/>
                </a:solidFill>
                <a:latin typeface="Aptos"/>
              </a:rPr>
              <a:t>Representación lógica del diagrama realizado a mano.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10561320" cy="4846320"/>
          </a:xfrm>
          <a:prstGeom prst="roundRect">
            <a:avLst/>
          </a:prstGeom>
          <a:solidFill>
            <a:srgbClr val="1C222B"/>
          </a:solidFill>
          <a:ln>
            <a:solidFill>
              <a:srgbClr val="465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56032" wrap="square"/>
          <a:lstStyle/>
          <a:p>
            <a:pPr algn="ctr"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INICIO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  LEER nombre_docente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  LEER disciplina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  MOSTRAR/SELECCIONAR nombre y disciplina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  LEER descripcion_actividad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  resultado ← IA_analiza(descripcion_actividad)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  completitud ← evaluar_completitud(resultado)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  eficiencia ← evaluar_eficiencia(resultado)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  competencias ← evaluar_competencias_digitales(resultado)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  nivel ← calcular_nivel(completitud, eficiencia, competencias)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  informe ← generar_informe(nombre_docente, disciplina,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                            nivel, resultados y consejos)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  MOSTRAR informe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  PREGUNTAR "¿Acepta sugerencias?"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  SI respuesta = "SI" ENTONCES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      modificar actividad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      re-evaluacion ← OPCIONAL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  FIN SI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  actividad_finalizada</a:t>
            </a:r>
          </a:p>
          <a:p>
            <a:pPr>
              <a:spcAft>
                <a:spcPts val="200"/>
              </a:spcAft>
              <a:defRPr sz="1320">
                <a:solidFill>
                  <a:srgbClr val="E6EEF5"/>
                </a:solidFill>
                <a:latin typeface="Consolas"/>
              </a:defRPr>
            </a:pPr>
            <a:r>
              <a:t>FIN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2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40"/>
                </a:solidFill>
                <a:latin typeface="Aptos Display"/>
              </a:rPr>
              <a:t>5. ¿Cómo funciona la lógica?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0"/>
                </a:solidFill>
                <a:latin typeface="Aptos"/>
              </a:rPr>
              <a:t>Cada bloque del pseudocódigo corresponde a una etapa del diagrama.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371600"/>
            <a:ext cx="475488" cy="475488"/>
          </a:xfrm>
          <a:prstGeom prst="ellipse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44168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2640"/>
                </a:solidFill>
              </a:rPr>
              <a:t>Procesamiento</a:t>
            </a:r>
          </a:p>
          <a:p>
            <a:r>
              <a:rPr sz="1150">
                <a:solidFill>
                  <a:srgbClr val="28303A"/>
                </a:solidFill>
              </a:rPr>
              <a:t>La IA recibe la descripción y produce un análisis de la actividad.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313432"/>
            <a:ext cx="475488" cy="475488"/>
          </a:xfrm>
          <a:prstGeom prst="ellipse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86000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2640"/>
                </a:solidFill>
              </a:rPr>
              <a:t>Evaluación</a:t>
            </a:r>
          </a:p>
          <a:p>
            <a:r>
              <a:rPr sz="1150">
                <a:solidFill>
                  <a:srgbClr val="28303A"/>
                </a:solidFill>
              </a:rPr>
              <a:t>Se revisan tres dimensiones: completitud, eficiencia y competencias digitales.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55264"/>
            <a:ext cx="475488" cy="475488"/>
          </a:xfrm>
          <a:prstGeom prst="ellipse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27832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2640"/>
                </a:solidFill>
              </a:rPr>
              <a:t>Clasificación</a:t>
            </a:r>
          </a:p>
          <a:p>
            <a:r>
              <a:rPr sz="1150">
                <a:solidFill>
                  <a:srgbClr val="28303A"/>
                </a:solidFill>
              </a:rPr>
              <a:t>Los resultados se integran para obtener un nivel: básico, intermedio, avanzado o experto.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197096"/>
            <a:ext cx="475488" cy="475488"/>
          </a:xfrm>
          <a:prstGeom prst="ellipse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169663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2640"/>
                </a:solidFill>
              </a:rPr>
              <a:t>Retroalimentación</a:t>
            </a:r>
          </a:p>
          <a:p>
            <a:r>
              <a:rPr sz="1150">
                <a:solidFill>
                  <a:srgbClr val="28303A"/>
                </a:solidFill>
              </a:rPr>
              <a:t>El informe muestra la calificación y consejos personalizados.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138928"/>
            <a:ext cx="475488" cy="475488"/>
          </a:xfrm>
          <a:prstGeom prst="ellipse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111496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2640"/>
                </a:solidFill>
              </a:rPr>
              <a:t>Iteración</a:t>
            </a:r>
          </a:p>
          <a:p>
            <a:r>
              <a:rPr sz="1150">
                <a:solidFill>
                  <a:srgbClr val="28303A"/>
                </a:solidFill>
              </a:rPr>
              <a:t>Si el docente acepta sugerencias, puede modificar la actividad y realizar una re-evaluación opcional.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2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40"/>
                </a:solidFill>
                <a:latin typeface="Aptos Display"/>
              </a:rPr>
              <a:t>6. Decisión final y ciclo de mejora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0"/>
                </a:solidFill>
                <a:latin typeface="Aptos"/>
              </a:rPr>
              <a:t>La segunda hoja del diagrama agrega una condición que permite mejorar la actividad.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371600"/>
            <a:ext cx="3840480" cy="777240"/>
          </a:xfrm>
          <a:prstGeom prst="roundRect">
            <a:avLst/>
          </a:prstGeom>
          <a:solidFill>
            <a:srgbClr val="EBF3FA"/>
          </a:solidFill>
          <a:ln>
            <a:solidFill>
              <a:srgbClr val="2B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¿Acepta sugerencias?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788920"/>
            <a:ext cx="3200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62640"/>
                </a:solidFill>
              </a:rPr>
              <a:t>NO → Actividad finalizada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788920"/>
            <a:ext cx="3200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62640"/>
                </a:solidFill>
              </a:rPr>
              <a:t>SÍ → Modifica actividad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4160520"/>
            <a:ext cx="3200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62640"/>
                </a:solidFill>
              </a:rPr>
              <a:t>Re-evaluación opcional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5486400"/>
            <a:ext cx="3840480" cy="685800"/>
          </a:xfrm>
          <a:prstGeom prst="roundRect">
            <a:avLst/>
          </a:prstGeom>
          <a:solidFill>
            <a:srgbClr val="238989"/>
          </a:solidFill>
          <a:ln>
            <a:solidFill>
              <a:srgbClr val="23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Actividad finalizada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429000" y="2148840"/>
            <a:ext cx="1417320" cy="640080"/>
          </a:xfrm>
          <a:prstGeom prst="line">
            <a:avLst/>
          </a:prstGeom>
          <a:ln w="27940">
            <a:solidFill>
              <a:srgbClr val="23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148840"/>
            <a:ext cx="1325880" cy="640080"/>
          </a:xfrm>
          <a:prstGeom prst="line">
            <a:avLst/>
          </a:prstGeom>
          <a:ln w="27940">
            <a:solidFill>
              <a:srgbClr val="23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41080" y="3566160"/>
            <a:ext cx="0" cy="594360"/>
          </a:xfrm>
          <a:prstGeom prst="line">
            <a:avLst/>
          </a:prstGeom>
          <a:ln w="27940">
            <a:solidFill>
              <a:srgbClr val="23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126480" y="4937760"/>
            <a:ext cx="1005840" cy="548640"/>
          </a:xfrm>
          <a:prstGeom prst="line">
            <a:avLst/>
          </a:prstGeom>
          <a:ln w="27940">
            <a:solidFill>
              <a:srgbClr val="23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60520" y="3182112"/>
            <a:ext cx="1920240" cy="2304288"/>
          </a:xfrm>
          <a:prstGeom prst="line">
            <a:avLst/>
          </a:prstGeom>
          <a:ln w="27940">
            <a:solidFill>
              <a:srgbClr val="23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77639" y="23591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00">
                <a:solidFill>
                  <a:srgbClr val="28303A"/>
                </a:solidFill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3591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00">
                <a:solidFill>
                  <a:srgbClr val="28303A"/>
                </a:solidFill>
              </a:rPr>
              <a:t>SÍ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2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640"/>
                </a:solidFill>
                <a:latin typeface="Aptos Display"/>
              </a:rPr>
              <a:t>7. ¿Qué defendemos con este pseudocódigo?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0"/>
                </a:solidFill>
                <a:latin typeface="Aptos"/>
              </a:rPr>
              <a:t>La propuesta convierte una idea en un proceso lógico, medible y repetible.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64592"/>
          <a:lstStyle/>
          <a:p>
            <a:pPr algn="ctr"/>
            <a:r>
              <a:rPr sz="1700" b="1">
                <a:solidFill>
                  <a:srgbClr val="162640"/>
                </a:solidFill>
                <a:latin typeface="Aptos"/>
              </a:rPr>
              <a:t>Puntos clave para explicar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El algoritmo comienza identificando al docente y su disciplina.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La actividad es el elemento principal que será analizado.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La IA no solo entrega una opinión: se organiza la evaluación en criterios.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El nivel final resume los resultados obtenidos.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El informe devuelve retroalimentación personalizada.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La decisión final permite un ciclo de mejora.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4480560"/>
          </a:xfrm>
          <a:prstGeom prst="rect">
            <a:avLst/>
          </a:prstGeom>
          <a:solidFill>
            <a:srgbClr val="2B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64592"/>
          <a:lstStyle/>
          <a:p>
            <a:pPr algn="ctr"/>
            <a:r>
              <a:rPr sz="1700" b="1">
                <a:solidFill>
                  <a:srgbClr val="162640"/>
                </a:solidFill>
                <a:latin typeface="Aptos"/>
              </a:rPr>
              <a:t>Cierre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El pseudocódigo define qué datos entran, qué procesos ocurren y qué resultados salen.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Las condiciones permiten tomar decisiones.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La re-evaluación hace que el sistema pueda ser iterativo.</a:t>
            </a:r>
          </a:p>
          <a:p>
            <a:pPr>
              <a:spcBef>
                <a:spcPts val="800"/>
              </a:spcBef>
              <a:defRPr sz="1350">
                <a:solidFill>
                  <a:srgbClr val="28303A"/>
                </a:solidFill>
                <a:latin typeface="Aptos"/>
              </a:defRPr>
            </a:pPr>
            <a:r>
              <a:t>La propuesta puede transformarse posteriormente en un programa real.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417320"/>
            <a:ext cx="73152" cy="4480560"/>
          </a:xfrm>
          <a:prstGeom prst="rect">
            <a:avLst/>
          </a:prstGeom>
          <a:solidFill>
            <a:srgbClr val="23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0807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62640"/>
                </a:solidFill>
              </a:rPr>
              <a:t>Idea central: evaluar → retroalimentar → mejorar → volver a evaluar si es necesario.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653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2"/>
                </a:solidFill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Pseudocódigo para la Evaluación de Actividades Docentes</dc:title>
  <dc:subject>Presentación para defender el pseudocódigo desarrollado</dc:subject>
  <dc:creator>Melanyn Triguero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